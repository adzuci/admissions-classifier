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lab.research.google.com/github/adzuci/admissions-classifier/blob/main/admissions_classifier.ipynb#scrollTo=Y9c8Zg2IzY56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/>
              <a:t>Draft Presentation Plan: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Slide 1: Adam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Slide 2-6: Calvin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Slide 7-12: Adam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/>
              <a:t>Adam: Speaker Notes: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Hey everyone, Calvin and I will be spending the next 5-10 minutes presenting four parts of our </a:t>
            </a:r>
            <a:r>
              <a:rPr lang="en" sz="800">
                <a:solidFill>
                  <a:schemeClr val="dk1"/>
                </a:solidFill>
              </a:rPr>
              <a:t>Scikit-Learn </a:t>
            </a:r>
            <a:r>
              <a:rPr lang="en" sz="800"/>
              <a:t>Admissions Classifier project &amp; showing off a quick demo.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At a high level we wanted to use machine learning to predict whether a student gets admitted based on some academic metrics.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I’ll hand the mic over to Calvin to share more about the four parts of our presentation.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You can say next when I should go to the next slide</a:t>
            </a:r>
            <a:endParaRPr sz="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7b0055422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c7b005542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Calvin: Speaker Notes: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lang="en" sz="800">
                <a:solidFill>
                  <a:schemeClr val="dk1"/>
                </a:solidFill>
              </a:rPr>
              <a:t>First, we’ll talk about the problem and the dataset we used.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lang="en" sz="800">
                <a:solidFill>
                  <a:schemeClr val="dk1"/>
                </a:solidFill>
              </a:rPr>
              <a:t>Then we’ll explain how we built the model using </a:t>
            </a:r>
            <a:r>
              <a:rPr lang="en" sz="800">
                <a:solidFill>
                  <a:schemeClr val="dk1"/>
                </a:solidFill>
              </a:rPr>
              <a:t>Scikit-Learn </a:t>
            </a:r>
            <a:r>
              <a:rPr lang="en" sz="800">
                <a:solidFill>
                  <a:schemeClr val="dk1"/>
                </a:solidFill>
              </a:rPr>
              <a:t>and why we chose Logistic Regression.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lang="en" sz="800">
                <a:solidFill>
                  <a:schemeClr val="dk1"/>
                </a:solidFill>
              </a:rPr>
              <a:t>After that, we’ll show you how our ML pipeline works and talk about what we’d do to improve it.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Notes Not To Be Read: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Problem &amp; Data (3-5)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300 Kaggle applications (GPA, SAT, extracurriculars)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Model Development (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Logistic Regression with standardized features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Results &amp; Implementation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65% accuracy &amp; CLI prediction tool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Challenges &amp; Next Steps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en" sz="800">
                <a:solidFill>
                  <a:schemeClr val="dk1"/>
                </a:solidFill>
              </a:rPr>
              <a:t>Limits of small data; Neural Networks overfit and underperformed</a:t>
            </a:r>
            <a:endParaRPr sz="8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7b0055422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00"/>
              <a:t>Problem &amp; Data</a:t>
            </a:r>
            <a:br>
              <a:rPr b="1" lang="en" sz="800"/>
            </a:br>
            <a:r>
              <a:rPr lang="en" sz="800"/>
              <a:t>Calvin: Speaker Notes: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So to get started we approached this as a supervised classification problem and after doing some testing decided to use Logistic Regression.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We implemented the full workflow in Python using Pandas for data handling and Scikit-Learn for modeling.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Our focus was building a clean, reproducible pipeline from training to ‘deployment’ so we could shift between models and improve it over time.</a:t>
            </a:r>
            <a:endParaRPr sz="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63" name="Google Shape;163;g3c7b0055422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7b0055422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Calvin: Speaker Notes: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lang="en" sz="800">
                <a:solidFill>
                  <a:schemeClr val="dk1"/>
                </a:solidFill>
              </a:rPr>
              <a:t>So at the core of our pipeline is a Kaggle dataset of 300 applications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lang="en" sz="800">
                <a:solidFill>
                  <a:schemeClr val="dk1"/>
                </a:solidFill>
              </a:rPr>
              <a:t>The three main features were GPA, SAT score, and extracurricular involvement.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lang="en" sz="800">
                <a:solidFill>
                  <a:schemeClr val="dk1"/>
                </a:solidFill>
              </a:rPr>
              <a:t>The Output options were Accepted or Waitlisted/Rejected</a:t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70" name="Google Shape;170;g3c7b0055422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7b0055422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</a:rPr>
              <a:t>Model Development</a:t>
            </a:r>
            <a:br>
              <a:rPr b="1" lang="en" sz="800">
                <a:solidFill>
                  <a:schemeClr val="dk1"/>
                </a:solidFill>
              </a:rPr>
            </a:br>
            <a:r>
              <a:rPr lang="en" sz="800">
                <a:solidFill>
                  <a:schemeClr val="dk1"/>
                </a:solidFill>
              </a:rPr>
              <a:t>Calvin: Speaker Notes: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lang="en" sz="800">
                <a:solidFill>
                  <a:schemeClr val="dk1"/>
                </a:solidFill>
              </a:rPr>
              <a:t>Because SAT scores are on a much larger numeric scale than GPA, we used a StandardScaler (seen on the right here) so one feature wouldn’t dominate the model.</a:t>
            </a:r>
            <a:endParaRPr sz="800">
              <a:solidFill>
                <a:schemeClr val="dk1"/>
              </a:solidFill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AutoNum type="arabicPeriod"/>
            </a:pPr>
            <a:r>
              <a:rPr lang="en" sz="800">
                <a:solidFill>
                  <a:schemeClr val="dk1"/>
                </a:solidFill>
              </a:rPr>
              <a:t>We also converted the original labels into a binary classification problem by grouping Waitlisted and Rejected together to simplify training.</a:t>
            </a:r>
            <a:endParaRPr/>
          </a:p>
        </p:txBody>
      </p:sp>
      <p:sp>
        <p:nvSpPr>
          <p:cNvPr id="178" name="Google Shape;178;g3c7b0055422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7b0055422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Calvin: </a:t>
            </a:r>
            <a:r>
              <a:rPr lang="en" sz="800"/>
              <a:t>Speaker Notes: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Training the model is straightforward with </a:t>
            </a:r>
            <a:r>
              <a:rPr lang="en" sz="800">
                <a:latin typeface="Courier New"/>
                <a:ea typeface="Courier New"/>
                <a:cs typeface="Courier New"/>
                <a:sym typeface="Courier New"/>
              </a:rPr>
              <a:t>python admissions.py --train</a:t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We achieved about 65% accuracy </a:t>
            </a:r>
            <a:r>
              <a:rPr lang="en" sz="800">
                <a:solidFill>
                  <a:schemeClr val="dk1"/>
                </a:solidFill>
              </a:rPr>
              <a:t>o</a:t>
            </a:r>
            <a:r>
              <a:rPr lang="en" sz="800">
                <a:solidFill>
                  <a:schemeClr val="dk1"/>
                </a:solidFill>
              </a:rPr>
              <a:t>n the test set using logistic regression.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We also save the trained model as a </a:t>
            </a:r>
            <a:r>
              <a:rPr lang="en" sz="800">
                <a:latin typeface="Courier New"/>
                <a:ea typeface="Courier New"/>
                <a:cs typeface="Courier New"/>
                <a:sym typeface="Courier New"/>
              </a:rPr>
              <a:t>.joblib</a:t>
            </a:r>
            <a:r>
              <a:rPr lang="en" sz="800"/>
              <a:t> file. That way, when we run predictions later, we don’t need to retrain.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This ensures consistency and reproducibility between training and inference.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And now over to Adam.</a:t>
            </a:r>
            <a:endParaRPr sz="800"/>
          </a:p>
        </p:txBody>
      </p:sp>
      <p:sp>
        <p:nvSpPr>
          <p:cNvPr id="187" name="Google Shape;187;g3c7b0055422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7b0055422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Adam: </a:t>
            </a:r>
            <a:r>
              <a:rPr lang="en" sz="800"/>
              <a:t>Speaker Notes:</a:t>
            </a:r>
            <a:endParaRPr sz="800"/>
          </a:p>
          <a:p>
            <a:pPr indent="-2794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We chose Logistic Regression because it’s </a:t>
            </a:r>
            <a:r>
              <a:rPr b="1" lang="en" sz="800"/>
              <a:t>interpretable</a:t>
            </a:r>
            <a:r>
              <a:rPr lang="en" sz="800"/>
              <a:t>,</a:t>
            </a:r>
            <a:endParaRPr sz="800"/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b="1" lang="en" sz="800"/>
              <a:t>lightweight</a:t>
            </a:r>
            <a:r>
              <a:rPr lang="en" sz="800"/>
              <a:t>,</a:t>
            </a:r>
            <a:endParaRPr sz="800"/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and it gives </a:t>
            </a:r>
            <a:r>
              <a:rPr b="1" lang="en" sz="800"/>
              <a:t>probability outputs</a:t>
            </a:r>
            <a:r>
              <a:rPr lang="en" sz="800"/>
              <a:t>,</a:t>
            </a:r>
            <a:endParaRPr sz="800"/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Also when we compared it to using a neural net or random forest model, it performed the best on our small dataset.</a:t>
            </a:r>
            <a:endParaRPr sz="800"/>
          </a:p>
        </p:txBody>
      </p:sp>
      <p:sp>
        <p:nvSpPr>
          <p:cNvPr id="194" name="Google Shape;194;g3c7b0055422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7b0055422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Adam: </a:t>
            </a:r>
            <a:r>
              <a:rPr lang="en" sz="800"/>
              <a:t>Speaker Notes: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This script either trains the model or loads the saved model depending on the </a:t>
            </a:r>
            <a:r>
              <a:rPr lang="en" sz="800">
                <a:latin typeface="Courier New"/>
                <a:ea typeface="Courier New"/>
                <a:cs typeface="Courier New"/>
                <a:sym typeface="Courier New"/>
              </a:rPr>
              <a:t>–train</a:t>
            </a:r>
            <a:r>
              <a:rPr lang="en" sz="800"/>
              <a:t> flag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Without the </a:t>
            </a:r>
            <a:r>
              <a:rPr lang="en" sz="800">
                <a:latin typeface="Courier New"/>
                <a:ea typeface="Courier New"/>
                <a:cs typeface="Courier New"/>
                <a:sym typeface="Courier New"/>
              </a:rPr>
              <a:t>–train</a:t>
            </a:r>
            <a:r>
              <a:rPr lang="en" sz="800"/>
              <a:t> flag it prompts the user for GPA, SAT score, and and number of extracurriculars.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Then it returns an admission verdict.</a:t>
            </a:r>
            <a:endParaRPr sz="800"/>
          </a:p>
        </p:txBody>
      </p:sp>
      <p:sp>
        <p:nvSpPr>
          <p:cNvPr id="202" name="Google Shape;202;g3c7b0055422_2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c6fa3c898_0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c6fa3c89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Adam: </a:t>
            </a:r>
            <a:r>
              <a:rPr lang="en" sz="800"/>
              <a:t>Go to </a:t>
            </a:r>
            <a:r>
              <a:rPr lang="en" sz="800" u="sng">
                <a:solidFill>
                  <a:schemeClr val="hlink"/>
                </a:solidFill>
                <a:hlinkClick r:id="rId2"/>
              </a:rPr>
              <a:t>https://colab.research.google.com/github/adzuci/admissions-classifier/blob/main/admissions_classifier.ipynb#scrollTo=Y9c8Zg2IzY56</a:t>
            </a:r>
            <a:r>
              <a:rPr lang="en" sz="800"/>
              <a:t> &amp; then run the script in the terminal.</a:t>
            </a:r>
            <a:endParaRPr sz="8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7b0055422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Adam: Speaker Notes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How do we prevent encoding historical bias in training data?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What features could be added?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b="1" lang="en" sz="800"/>
              <a:t>Years of experience?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b="1" lang="en" sz="800"/>
              <a:t>Recommendation letter sentiment?</a:t>
            </a:r>
            <a:endParaRPr b="1"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How could we transition the CLI to a cloud-hosted API?</a:t>
            </a:r>
            <a:endParaRPr sz="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217" name="Google Shape;217;g3c7b0055422_2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7b0055422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Adam: </a:t>
            </a:r>
            <a:r>
              <a:rPr lang="en" sz="800"/>
              <a:t>Speaker Notes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If we continued this project, the next steps would be deploying to, adding more data and features, and possibly building a Streamlit dashboard for live demos.</a:t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AutoNum type="arabicPeriod"/>
            </a:pPr>
            <a:r>
              <a:rPr lang="en" sz="800"/>
              <a:t>We’d ideally also automate retraining with CI/CD.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"/>
              <a:t>In conclusion, using the knowledge gained from this class we built a complete, interpretable ML pipeline that’s ready to be iterated on.</a:t>
            </a:r>
            <a:endParaRPr sz="800"/>
          </a:p>
        </p:txBody>
      </p:sp>
      <p:sp>
        <p:nvSpPr>
          <p:cNvPr id="224" name="Google Shape;224;g3c7b0055422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7b0055422_38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c7b0055422_38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D">
  <p:cSld name="TITLE_AND_BODY_2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/>
          <p:nvPr>
            <p:ph idx="2" type="pic"/>
          </p:nvPr>
        </p:nvSpPr>
        <p:spPr>
          <a:xfrm>
            <a:off x="29629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6" name="Google Shape;76;p14"/>
          <p:cNvSpPr txBox="1"/>
          <p:nvPr>
            <p:ph type="title"/>
          </p:nvPr>
        </p:nvSpPr>
        <p:spPr>
          <a:xfrm>
            <a:off x="5151925" y="289525"/>
            <a:ext cx="3548100" cy="10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515192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9" name="Google Shape;99;p18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0" name="Google Shape;100;p1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6" name="Google Shape;106;p19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7" name="Google Shape;107;p19"/>
          <p:cNvSpPr txBox="1"/>
          <p:nvPr>
            <p:ph idx="3" type="body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8" name="Google Shape;108;p19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9" name="Google Shape;109;p1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4" name="Google Shape;124;p22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5" name="Google Shape;125;p2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3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2" name="Google Shape;132;p2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2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calvingoinsjr/" TargetMode="External"/><Relationship Id="rId4" Type="http://schemas.openxmlformats.org/officeDocument/2006/relationships/hyperlink" Target="https://www.linkedin.com/in/adamblackwell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github.com/adzuci/admissions-classifier" TargetMode="External"/><Relationship Id="rId4" Type="http://schemas.openxmlformats.org/officeDocument/2006/relationships/hyperlink" Target="http://bit.ly/followalongwithusher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datasets/amanace/student-admission-dataset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b="0" lang="en" sz="4400">
                <a:latin typeface="Calibri"/>
                <a:ea typeface="Calibri"/>
                <a:cs typeface="Calibri"/>
                <a:sym typeface="Calibri"/>
              </a:rPr>
              <a:t>Student Admissions Classifier Project</a:t>
            </a:r>
            <a:endParaRPr/>
          </a:p>
        </p:txBody>
      </p:sp>
      <p:sp>
        <p:nvSpPr>
          <p:cNvPr id="152" name="Google Shape;152;p26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Fundamentals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Calvin Goins</a:t>
            </a:r>
            <a:r>
              <a:rPr lang="en"/>
              <a:t> &amp; </a:t>
            </a:r>
            <a:r>
              <a:rPr lang="en" u="sng">
                <a:solidFill>
                  <a:schemeClr val="hlink"/>
                </a:solidFill>
                <a:hlinkClick r:id="rId4"/>
              </a:rPr>
              <a:t>Adam Blackwell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What We’ll Be Presenting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1. Problem &amp; Data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2. Model Development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3. Results &amp; Implementation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4. Challenges &amp; Next Steps</a:t>
            </a:r>
            <a:endParaRPr sz="2400"/>
          </a:p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90537"/>
            <a:ext cx="9144001" cy="2467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Predictive Modeling for A</a:t>
            </a:r>
            <a:r>
              <a:rPr lang="en"/>
              <a:t>dmissions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203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 Develop a machine learning pipeline to predict university admission outcomes.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Methodology: Logistic Regression classification using academic &amp; extracurricular metrics.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Stack: Python, Scikit-Learn, Pandas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Source: </a:t>
            </a:r>
            <a:r>
              <a:rPr lang="en" u="sng">
                <a:solidFill>
                  <a:schemeClr val="hlink"/>
                </a:solidFill>
                <a:hlinkClick r:id="rId3"/>
              </a:rPr>
              <a:t>github.com/adzuci/admissions-classifier</a:t>
            </a:r>
            <a:r>
              <a:rPr lang="en"/>
              <a:t> 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Notebook: </a:t>
            </a:r>
            <a:r>
              <a:rPr lang="en" u="sng">
                <a:solidFill>
                  <a:schemeClr val="hlink"/>
                </a:solidFill>
                <a:hlinkClick r:id="rId4"/>
              </a:rPr>
              <a:t>bit.ly/followalongwithushere</a:t>
            </a:r>
            <a:r>
              <a:rPr lang="en"/>
              <a:t> </a:t>
            </a:r>
            <a:endParaRPr/>
          </a:p>
        </p:txBody>
      </p:sp>
      <p:sp>
        <p:nvSpPr>
          <p:cNvPr id="167" name="Google Shape;167;p2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Foundation of the Model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457200" y="1200150"/>
            <a:ext cx="41148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Dataset Features:</a:t>
            </a:r>
            <a:endParaRPr/>
          </a:p>
          <a:p>
            <a:pPr indent="-32893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GPA (2.5–4.0)</a:t>
            </a:r>
            <a:endParaRPr/>
          </a:p>
          <a:p>
            <a:pPr indent="-32893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 Score (900–1600)</a:t>
            </a:r>
            <a:endParaRPr/>
          </a:p>
          <a:p>
            <a:pPr indent="-32893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Extracurriculars (0–10)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Output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Accepted, Waitlisted, Rejected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Source: </a:t>
            </a:r>
            <a:r>
              <a:rPr lang="en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Kaggle Student Admission Dataset</a:t>
            </a:r>
            <a:endParaRPr/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6938" y="1169425"/>
            <a:ext cx="4249875" cy="156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/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457200" y="1200150"/>
            <a:ext cx="41148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Preprocessing: Applied StandardScaler to normalize GPA &amp; SAT variance.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 Engineering: Converted categorical outcomes to binary classification.</a:t>
            </a:r>
            <a:endParaRPr sz="2000"/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 Analysis:</a:t>
            </a:r>
            <a:endParaRPr sz="2000"/>
          </a:p>
          <a:p>
            <a:pPr indent="-2984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Extracurriculars shift admission threshold.</a:t>
            </a:r>
            <a:endParaRPr sz="2000"/>
          </a:p>
          <a:p>
            <a:pPr indent="-2984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SAT can offset lower GPA in some cases.</a:t>
            </a:r>
            <a:endParaRPr sz="2000"/>
          </a:p>
        </p:txBody>
      </p:sp>
      <p:sp>
        <p:nvSpPr>
          <p:cNvPr id="182" name="Google Shape;182;p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8225" y="3262680"/>
            <a:ext cx="3911400" cy="120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8225" y="1339601"/>
            <a:ext cx="3911400" cy="182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/>
          </a:p>
        </p:txBody>
      </p:sp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Command: </a:t>
            </a:r>
            <a:r>
              <a:rPr lang="en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python admissions.py --train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Accuracy: 0.6531 (65.31%)</a:t>
            </a:r>
            <a:endParaRPr/>
          </a:p>
          <a:p>
            <a:pPr indent="0" lvl="0" marL="203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Persistence:</a:t>
            </a:r>
            <a:endParaRPr/>
          </a:p>
          <a:p>
            <a:pPr indent="-32893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–"/>
            </a:pPr>
            <a:r>
              <a:rPr lang="en" sz="3200"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lang="en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odel.joblib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28930" lvl="1" marL="7429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–"/>
            </a:pPr>
            <a:r>
              <a:rPr lang="en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scaler.joblib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reproducibility between training and inference.</a:t>
            </a:r>
            <a:endParaRPr/>
          </a:p>
        </p:txBody>
      </p:sp>
      <p:sp>
        <p:nvSpPr>
          <p:cNvPr id="191" name="Google Shape;191;p3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Logistic Regression?</a:t>
            </a:r>
            <a:endParaRPr/>
          </a:p>
        </p:txBody>
      </p:sp>
      <p:sp>
        <p:nvSpPr>
          <p:cNvPr id="197" name="Google Shape;197;p32"/>
          <p:cNvSpPr txBox="1"/>
          <p:nvPr>
            <p:ph idx="1" type="body"/>
          </p:nvPr>
        </p:nvSpPr>
        <p:spPr>
          <a:xfrm>
            <a:off x="457200" y="1200150"/>
            <a:ext cx="41148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Interpretability: Clear coefficients show impact of GPA vs SAT.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Efficiency: Lightweight, CPU-only, minimal memory footprint.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•"/>
            </a:pPr>
            <a:r>
              <a:rPr lang="en"/>
              <a:t>Probability Output: Produces 0–1 score useful for waitlist thresholds.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"/>
              <a:t>Results: After training using three models it was the most accurate, which we believe is due to the small dataset</a:t>
            </a:r>
            <a:endParaRPr/>
          </a:p>
        </p:txBody>
      </p:sp>
      <p:sp>
        <p:nvSpPr>
          <p:cNvPr id="198" name="Google Shape;198;p3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9" name="Google Shape;19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2075" y="1395128"/>
            <a:ext cx="4267201" cy="2353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admissions.py</a:t>
            </a: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/>
              <a:t>Code</a:t>
            </a:r>
            <a:endParaRPr/>
          </a:p>
        </p:txBody>
      </p:sp>
      <p:sp>
        <p:nvSpPr>
          <p:cNvPr id="205" name="Google Shape;205;p33"/>
          <p:cNvSpPr txBox="1"/>
          <p:nvPr>
            <p:ph idx="1" type="body"/>
          </p:nvPr>
        </p:nvSpPr>
        <p:spPr>
          <a:xfrm>
            <a:off x="457200" y="1200150"/>
            <a:ext cx="34452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Loads serialized model and scaler.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Accepts user input for GPA, SAT, and extracurricular count.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 immediate admission verdict.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rapid 'what-if' experimentation.</a:t>
            </a:r>
            <a:endParaRPr/>
          </a:p>
        </p:txBody>
      </p:sp>
      <p:pic>
        <p:nvPicPr>
          <p:cNvPr id="206" name="Google Shape;20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375" y="1200150"/>
            <a:ext cx="4724400" cy="730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374" y="2571756"/>
            <a:ext cx="4724400" cy="103202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214" name="Google Shape;214;p3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Questions</a:t>
            </a:r>
            <a:endParaRPr/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we </a:t>
            </a:r>
            <a:r>
              <a:rPr lang="en"/>
              <a:t>p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revent encoding historical bias in training data</a:t>
            </a:r>
            <a:r>
              <a:rPr lang="en"/>
              <a:t>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/>
              <a:t>What features could be added</a:t>
            </a:r>
            <a:r>
              <a:rPr lang="en"/>
              <a:t>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/>
              <a:t>How could we t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ransition the CLI to a cloud-hosted API</a:t>
            </a:r>
            <a:r>
              <a:rPr lang="en"/>
              <a:t>?</a:t>
            </a:r>
            <a:endParaRPr/>
          </a:p>
        </p:txBody>
      </p:sp>
      <p:sp>
        <p:nvSpPr>
          <p:cNvPr id="221" name="Google Shape;221;p3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Roadmap &amp; Conclusion</a:t>
            </a:r>
            <a:endParaRPr/>
          </a:p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/>
              <a:t>Hosting: Azure or AWS.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/>
              <a:t>Data: More features, larger training dataset.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UI/UX: Streamlit dashboard.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CI/CD: Automate retraining when dataset updates.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Takeaway: </a:t>
            </a:r>
            <a:r>
              <a:rPr lang="en"/>
              <a:t>We b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uilt an end-to-end, interpretable ML pipeline ready for iteration</a:t>
            </a:r>
            <a:r>
              <a:rPr lang="en"/>
              <a:t>.</a:t>
            </a:r>
            <a:endParaRPr/>
          </a:p>
        </p:txBody>
      </p:sp>
      <p:sp>
        <p:nvSpPr>
          <p:cNvPr id="228" name="Google Shape;228;p3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234" name="Google Shape;234;p3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40" name="Google Shape;240;p3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/>
              <a:t>Problem &amp; Data</a:t>
            </a:r>
            <a:endParaRPr sz="3600"/>
          </a:p>
        </p:txBody>
      </p:sp>
      <p:sp>
        <p:nvSpPr>
          <p:cNvPr id="241" name="Google Shape;241;p3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